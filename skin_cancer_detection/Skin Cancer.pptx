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70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393ED-7337-D8DB-9DC5-440A86B06E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8E6CF-FFD1-5434-E3A0-4E191921D9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036D-5F3D-45DF-8D23-15C484D1FC58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1662-F99C-CBA3-A1D1-52F040D894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06171-0435-4311-77B2-3FD7097DE4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4BD40-3E4A-4A74-8EA7-D93BED9E36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21299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C4F9F-5395-4B3D-9456-8C2C0EDCA50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60FAE-8D7D-4F1E-AB63-3EF0BD177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411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EE838-85EC-4FC8-944B-131E2972BBF1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2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D444-2AD5-4BB5-A3AF-F97BBBECB037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7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E2735-F77C-4E41-958F-A21BA1FF5383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6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4E70-3D41-4C4A-A318-FD1667C7AC2A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0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3A08-15E0-4A16-9C4A-CB877262A2A8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7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DAB97-D9FA-4AD7-A166-4DF05C0DF3E5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8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5111-74B3-4DE8-9770-4B110D92C657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F216-ECD0-49A4-A7AA-EB5741ECA7B3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1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A3AC-1B9A-4E7D-8CA5-798DAEB06072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3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9FAD-BC9E-44EF-9B5F-80C786BA32BD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0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77AB-074C-4FDE-8E71-24185511F385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2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28430-9BFD-4827-B9B0-F5B410D440B8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6661F-D80C-46AD-8792-0AE17DB4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2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hasnainjaved/melanoma-skin-cancer-dataset-of-10000-image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hasnainjaved/melanoma-skin-cancer-dataset-of-10000-image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247" y="1656303"/>
            <a:ext cx="3113505" cy="28363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1643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2177" y="5005633"/>
            <a:ext cx="7484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 202110602</a:t>
            </a:r>
            <a:r>
              <a:rPr lang="ar-IQ" dirty="0"/>
              <a:t>يامن نعمان زيدان </a:t>
            </a:r>
          </a:p>
          <a:p>
            <a:pPr algn="r"/>
            <a:r>
              <a:rPr lang="ar-IQ" dirty="0"/>
              <a:t>اّية حسان الفرخ 202110817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86120" y="5561814"/>
            <a:ext cx="331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· Section Number:1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4BB42-58FD-497A-E002-6A5A41CF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63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3303" y="0"/>
            <a:ext cx="7308915" cy="2009529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Skin Cancer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718008"/>
            <a:ext cx="12009749" cy="5736210"/>
          </a:xfrm>
        </p:spPr>
        <p:txBody>
          <a:bodyPr/>
          <a:lstStyle/>
          <a:p>
            <a:pPr algn="l"/>
            <a:endParaRPr lang="ar-IQ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r" rtl="1"/>
            <a:r>
              <a:rPr lang="ar-IQ" sz="1800" b="1" dirty="0"/>
              <a:t>المشكلة:</a:t>
            </a:r>
            <a:br>
              <a:rPr lang="ar-IQ" sz="1800" dirty="0"/>
            </a:br>
            <a:r>
              <a:rPr lang="ar-IQ" sz="1800" dirty="0"/>
              <a:t>الكثير من الأشخاص يلاحظون بقعًا أو تغيرات على الجلد ويقلقون من احتمال ان تكون سرطانًا جلديًا.</a:t>
            </a:r>
            <a:endParaRPr lang="en-US" sz="1800" dirty="0"/>
          </a:p>
          <a:p>
            <a:pPr algn="r" rtl="1"/>
            <a:r>
              <a:rPr lang="ar-JO" sz="1800" dirty="0"/>
              <a:t>سرطان الجلد من أكثر الأمراض انتشارا، والكشف المبكر عنه يزيد فرص العلاج بشكل </a:t>
            </a:r>
            <a:r>
              <a:rPr lang="ar-JO" sz="1800" dirty="0" err="1"/>
              <a:t>كبير.الاعتماد</a:t>
            </a:r>
            <a:r>
              <a:rPr lang="ar-JO" sz="1800" dirty="0"/>
              <a:t> على الفحص البصري فقط قد يؤدي إلى أخطاء بسبب اختلاف أشكال الشامات وجودة الصور وقلة الخبرة، لذلك توجد حاجة إلى نموذج آلي يساعد في التمييز بين الآفات الحميدة والخبيثة.</a:t>
            </a:r>
            <a:endParaRPr lang="en-US" sz="1800" dirty="0"/>
          </a:p>
          <a:p>
            <a:pPr algn="r" rtl="1"/>
            <a:r>
              <a:rPr lang="ar-IQ" sz="1800" b="1" dirty="0"/>
              <a:t>الحل المقترح:</a:t>
            </a:r>
            <a:br>
              <a:rPr lang="ar-IQ" sz="1800" dirty="0"/>
            </a:br>
            <a:r>
              <a:rPr lang="ar-IQ" sz="1800" dirty="0"/>
              <a:t>تطوير نموذج ذكاء اصطناعي قادر على تحليل صور الجلد والتنبؤ بما إذا كانت البقعة الجلدية </a:t>
            </a:r>
            <a:r>
              <a:rPr lang="ar-IQ" sz="1800" b="1" dirty="0"/>
              <a:t>سرطانية (</a:t>
            </a:r>
            <a:r>
              <a:rPr lang="en-US" sz="1800" b="1" dirty="0"/>
              <a:t>Malignant</a:t>
            </a:r>
            <a:r>
              <a:rPr lang="ar-IQ" sz="1800" b="1" dirty="0"/>
              <a:t>)</a:t>
            </a:r>
            <a:r>
              <a:rPr lang="ar-IQ" sz="1800" dirty="0"/>
              <a:t> أو </a:t>
            </a:r>
            <a:r>
              <a:rPr lang="ar-IQ" sz="1800" b="1" dirty="0"/>
              <a:t>سليمة (</a:t>
            </a:r>
            <a:r>
              <a:rPr lang="en-US" sz="1800" b="1" dirty="0"/>
              <a:t>Benign</a:t>
            </a:r>
            <a:r>
              <a:rPr lang="ar-IQ" sz="1800" b="1" dirty="0"/>
              <a:t>)</a:t>
            </a:r>
            <a:r>
              <a:rPr lang="ar-IQ" sz="1800" dirty="0"/>
              <a:t>. يهدف هذا النظام إلى مساعدة الأشخاص في تحديد الحاجة للفحص الطبي أم لا، وبالتالي  تقليل المخاطر الصحية.</a:t>
            </a:r>
            <a:endParaRPr lang="en-US" sz="1800" dirty="0"/>
          </a:p>
          <a:p>
            <a:pPr algn="l"/>
            <a:r>
              <a:rPr lang="en-US" sz="2800" b="1" dirty="0"/>
              <a:t>Flowchart:</a:t>
            </a:r>
          </a:p>
          <a:p>
            <a:pPr algn="l"/>
            <a:endParaRPr lang="en-US" sz="2800" dirty="0"/>
          </a:p>
          <a:p>
            <a:pPr algn="r"/>
            <a:endParaRPr lang="ar-IQ" sz="2000" dirty="0"/>
          </a:p>
        </p:txBody>
      </p:sp>
      <p:sp>
        <p:nvSpPr>
          <p:cNvPr id="5" name="Oval 4"/>
          <p:cNvSpPr/>
          <p:nvPr/>
        </p:nvSpPr>
        <p:spPr>
          <a:xfrm>
            <a:off x="4515437" y="3082173"/>
            <a:ext cx="2139885" cy="5275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IQ" sz="1400" dirty="0">
                <a:solidFill>
                  <a:schemeClr val="tx1"/>
                </a:solidFill>
              </a:rPr>
              <a:t>ادخال الصور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ar-IQ" sz="1400" dirty="0">
                <a:solidFill>
                  <a:schemeClr val="tx1"/>
                </a:solidFill>
              </a:rPr>
              <a:t>البقعة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571995" y="3836708"/>
            <a:ext cx="2083326" cy="5750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Preprocessing: Normalize</a:t>
            </a:r>
          </a:p>
        </p:txBody>
      </p:sp>
      <p:sp>
        <p:nvSpPr>
          <p:cNvPr id="7" name="Oval 6"/>
          <p:cNvSpPr/>
          <p:nvPr/>
        </p:nvSpPr>
        <p:spPr>
          <a:xfrm>
            <a:off x="4571995" y="4682326"/>
            <a:ext cx="2139885" cy="61274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 Augmentation</a:t>
            </a:r>
          </a:p>
        </p:txBody>
      </p:sp>
      <p:sp>
        <p:nvSpPr>
          <p:cNvPr id="9" name="Oval 8"/>
          <p:cNvSpPr/>
          <p:nvPr/>
        </p:nvSpPr>
        <p:spPr>
          <a:xfrm>
            <a:off x="4656836" y="5484387"/>
            <a:ext cx="2139885" cy="5275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Convolutional Neural Network </a:t>
            </a:r>
          </a:p>
        </p:txBody>
      </p:sp>
      <p:sp>
        <p:nvSpPr>
          <p:cNvPr id="10" name="Oval 9"/>
          <p:cNvSpPr/>
          <p:nvPr/>
        </p:nvSpPr>
        <p:spPr>
          <a:xfrm>
            <a:off x="4656836" y="6282479"/>
            <a:ext cx="2139885" cy="5275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Output:               Benign or Malignant</a:t>
            </a:r>
          </a:p>
        </p:txBody>
      </p:sp>
      <p:cxnSp>
        <p:nvCxnSpPr>
          <p:cNvPr id="12" name="Straight Arrow Connector 11"/>
          <p:cNvCxnSpPr>
            <a:endCxn id="6" idx="0"/>
          </p:cNvCxnSpPr>
          <p:nvPr/>
        </p:nvCxnSpPr>
        <p:spPr>
          <a:xfrm flipH="1">
            <a:off x="5613658" y="3609682"/>
            <a:ext cx="28280" cy="227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4"/>
            <a:endCxn id="7" idx="0"/>
          </p:cNvCxnSpPr>
          <p:nvPr/>
        </p:nvCxnSpPr>
        <p:spPr>
          <a:xfrm>
            <a:off x="5613658" y="4411743"/>
            <a:ext cx="28280" cy="270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4"/>
          </p:cNvCxnSpPr>
          <p:nvPr/>
        </p:nvCxnSpPr>
        <p:spPr>
          <a:xfrm flipH="1">
            <a:off x="5627798" y="5295068"/>
            <a:ext cx="14140" cy="267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4"/>
            <a:endCxn id="10" idx="0"/>
          </p:cNvCxnSpPr>
          <p:nvPr/>
        </p:nvCxnSpPr>
        <p:spPr>
          <a:xfrm>
            <a:off x="5726779" y="6011896"/>
            <a:ext cx="0" cy="270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8DB650-4BD8-0D1F-1F12-259FDC85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2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2309" y="474417"/>
            <a:ext cx="1186834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/>
              <a:t>Data Source:</a:t>
            </a:r>
            <a:br>
              <a:rPr lang="en-US" dirty="0"/>
            </a:br>
            <a:r>
              <a:rPr lang="en-US" dirty="0"/>
              <a:t>The dataset </a:t>
            </a:r>
            <a:r>
              <a:rPr lang="en-US" b="1" dirty="0"/>
              <a:t>Melanoma Skin Cancer Dataset</a:t>
            </a:r>
            <a:r>
              <a:rPr lang="en-US" dirty="0"/>
              <a:t> from </a:t>
            </a:r>
            <a:r>
              <a:rPr lang="en-US" dirty="0" err="1"/>
              <a:t>Kaggle</a:t>
            </a:r>
            <a:r>
              <a:rPr lang="en-US" dirty="0"/>
              <a:t>:</a:t>
            </a:r>
          </a:p>
          <a:p>
            <a:r>
              <a:rPr lang="en-US" dirty="0">
                <a:hlinkClick r:id="rId2"/>
              </a:rPr>
              <a:t>https://www.kaggle.com/datasets/hasnainjaved/melanoma-skin-cancer-dataset-of-10000-images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Dataset Size :</a:t>
            </a:r>
            <a:endParaRPr lang="en-US" dirty="0"/>
          </a:p>
          <a:p>
            <a:r>
              <a:rPr lang="en-US" dirty="0"/>
              <a:t>The dataset contains </a:t>
            </a:r>
            <a:r>
              <a:rPr lang="en-US" b="1" dirty="0"/>
              <a:t>10000 images</a:t>
            </a:r>
            <a:r>
              <a:rPr lang="en-US" dirty="0"/>
              <a:t> </a:t>
            </a:r>
          </a:p>
          <a:p>
            <a:r>
              <a:rPr lang="en-US" b="1" dirty="0"/>
              <a:t>9600 images</a:t>
            </a:r>
            <a:r>
              <a:rPr lang="en-US" dirty="0"/>
              <a:t> are used for training the model.</a:t>
            </a:r>
          </a:p>
          <a:p>
            <a:r>
              <a:rPr lang="en-US" b="1" dirty="0"/>
              <a:t>1,000 images</a:t>
            </a:r>
            <a:r>
              <a:rPr lang="en-US" dirty="0"/>
              <a:t> are used for testing the model.</a:t>
            </a:r>
          </a:p>
          <a:p>
            <a:endParaRPr lang="en-US" b="1" dirty="0"/>
          </a:p>
          <a:p>
            <a:r>
              <a:rPr lang="en-US" b="1" dirty="0"/>
              <a:t>why This Dataset: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Lots of images → model can learn well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Real skin images → results are reliable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Labeled → easy for CNN to classify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B59FE-DFE2-71F8-7CF3-1DBEDCD6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3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618" y="3919551"/>
            <a:ext cx="2573767" cy="24179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309" y="3959330"/>
            <a:ext cx="2250582" cy="2417969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35756" y="520480"/>
            <a:ext cx="1055173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ar-IQ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Size (Resize):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ar-IQ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images were originally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(300, 300, 3)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were resized to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(150, 150, 3)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match the model input.</a:t>
            </a:r>
            <a:endParaRPr kumimoji="0" lang="ar-IQ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 Channels (RGB):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ar-IQ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images are in color with 3 channels.</a:t>
            </a:r>
            <a:endParaRPr kumimoji="0" lang="ar-IQ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ar-IQ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Pixel values were scaled to the range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[0,1]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improve model training and performance.</a:t>
            </a:r>
            <a:endParaRPr kumimoji="0" lang="ar-IQ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Augmentation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ImageDataGenerator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for training data augmentation.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52B65-E07F-4894-68DE-C3D4E232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D22F26-EE48-3857-0A7C-A70A52B83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5" y="4501915"/>
            <a:ext cx="7318079" cy="173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3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1007" y="1090061"/>
            <a:ext cx="1101130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dataset contains 10000 images:</a:t>
            </a:r>
          </a:p>
          <a:p>
            <a:r>
              <a:rPr lang="en-US" dirty="0"/>
              <a:t>9605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images for training</a:t>
            </a:r>
          </a:p>
          <a:p>
            <a:r>
              <a:rPr lang="en-US" dirty="0"/>
              <a:t>1000 images for testing</a:t>
            </a:r>
          </a:p>
          <a:p>
            <a:endParaRPr lang="en-US" dirty="0"/>
          </a:p>
          <a:p>
            <a:r>
              <a:rPr lang="en-CA" dirty="0"/>
              <a:t>Benign Class images : ~5,000 images</a:t>
            </a:r>
            <a:endParaRPr lang="en-US" dirty="0"/>
          </a:p>
          <a:p>
            <a:endParaRPr lang="en-US" dirty="0"/>
          </a:p>
          <a:p>
            <a:r>
              <a:rPr lang="en-CA" dirty="0"/>
              <a:t>Malignant (Melanoma): ~4,605 images</a:t>
            </a:r>
          </a:p>
          <a:p>
            <a:endParaRPr lang="en-US" dirty="0"/>
          </a:p>
          <a:p>
            <a:r>
              <a:rPr lang="en-US" dirty="0"/>
              <a:t>To create a validation set, we take 20% from the training images.</a:t>
            </a:r>
          </a:p>
          <a:p>
            <a:r>
              <a:rPr lang="en-US" dirty="0"/>
              <a:t>Final Split:</a:t>
            </a:r>
          </a:p>
          <a:p>
            <a:r>
              <a:rPr lang="en-US" dirty="0"/>
              <a:t>Training: 768</a:t>
            </a:r>
            <a:r>
              <a:rPr lang="ar-IQ" dirty="0"/>
              <a:t>4</a:t>
            </a:r>
            <a:r>
              <a:rPr lang="en-US" dirty="0"/>
              <a:t> images</a:t>
            </a:r>
          </a:p>
          <a:p>
            <a:r>
              <a:rPr lang="en-US" dirty="0"/>
              <a:t>Validation: 192</a:t>
            </a:r>
            <a:r>
              <a:rPr lang="ar-IQ" dirty="0"/>
              <a:t>1</a:t>
            </a:r>
            <a:r>
              <a:rPr lang="en-US" dirty="0"/>
              <a:t> images</a:t>
            </a:r>
          </a:p>
          <a:p>
            <a:r>
              <a:rPr lang="en-US" dirty="0"/>
              <a:t>Testing: 1000 images</a:t>
            </a:r>
            <a:endParaRPr lang="ar-IQ" dirty="0"/>
          </a:p>
          <a:p>
            <a:endParaRPr lang="en-US" dirty="0"/>
          </a:p>
          <a:p>
            <a:r>
              <a:rPr lang="en-US" dirty="0"/>
              <a:t>Why this split?</a:t>
            </a:r>
          </a:p>
          <a:p>
            <a:r>
              <a:rPr lang="en-US" dirty="0"/>
              <a:t>Training set is large enough for the model to learn well.</a:t>
            </a:r>
          </a:p>
          <a:p>
            <a:r>
              <a:rPr lang="en-US" dirty="0"/>
              <a:t>Validation set helps monitor the model during training.</a:t>
            </a:r>
          </a:p>
          <a:p>
            <a:r>
              <a:rPr lang="en-US" dirty="0"/>
              <a:t>Testing set stays completely unseen for fair evaluation.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22726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02" y="2275836"/>
            <a:ext cx="5715798" cy="458216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581C7-F234-C750-670E-816052B5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5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64" y="3931920"/>
            <a:ext cx="6293361" cy="2606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65" y="506293"/>
            <a:ext cx="1117493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Choice</a:t>
            </a:r>
          </a:p>
          <a:p>
            <a:r>
              <a:rPr lang="en-US" b="1" dirty="0"/>
              <a:t>CNN</a:t>
            </a:r>
            <a:r>
              <a:rPr lang="en-US" dirty="0"/>
              <a:t> because it is the best model for working with images.</a:t>
            </a:r>
          </a:p>
          <a:p>
            <a:r>
              <a:rPr lang="en-US" b="1" dirty="0"/>
              <a:t>Why</a:t>
            </a:r>
            <a:r>
              <a:rPr lang="ar-IQ" b="1" dirty="0"/>
              <a:t>:</a:t>
            </a:r>
            <a:endParaRPr lang="en-US" b="1" dirty="0"/>
          </a:p>
          <a:p>
            <a:r>
              <a:rPr lang="en-US" dirty="0"/>
              <a:t>It can recognize the </a:t>
            </a:r>
            <a:r>
              <a:rPr lang="en-US" b="1" dirty="0"/>
              <a:t>shape, color, and edges</a:t>
            </a:r>
            <a:r>
              <a:rPr lang="en-US" dirty="0"/>
              <a:t> in the image.</a:t>
            </a:r>
          </a:p>
          <a:p>
            <a:r>
              <a:rPr lang="en-US" dirty="0"/>
              <a:t>It works very well for classifying skin spots.</a:t>
            </a:r>
            <a:r>
              <a:rPr lang="ar-IQ" dirty="0"/>
              <a:t> </a:t>
            </a:r>
          </a:p>
          <a:p>
            <a:endParaRPr lang="ar-IQ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MLP:</a:t>
            </a:r>
            <a:r>
              <a:rPr lang="en-US" altLang="en-US" dirty="0">
                <a:latin typeface="Arial" panose="020B0604020202020204" pitchFamily="34" charset="0"/>
              </a:rPr>
              <a:t> Not good for images.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Transfer Learning:</a:t>
            </a:r>
            <a:r>
              <a:rPr lang="en-US" altLang="en-US" dirty="0">
                <a:latin typeface="Arial" panose="020B0604020202020204" pitchFamily="34" charset="0"/>
              </a:rPr>
              <a:t> Very strong, but needs a powerful device, so we chose a simpler CNN.</a:t>
            </a:r>
          </a:p>
          <a:p>
            <a:r>
              <a:rPr lang="ar-IQ" dirty="0"/>
              <a:t>  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CNN-&gt; Flatten-&gt;Dense-&gt;Sigmoid Output</a:t>
            </a:r>
            <a:endParaRPr lang="ar-IQ" dirty="0"/>
          </a:p>
          <a:p>
            <a:r>
              <a:rPr lang="en-US" dirty="0" err="1"/>
              <a:t>Cnn</a:t>
            </a:r>
            <a:r>
              <a:rPr lang="en-US" dirty="0"/>
              <a:t>:</a:t>
            </a:r>
            <a:r>
              <a:rPr lang="pt-BR" dirty="0"/>
              <a:t>(I∗K)[x,y]=m∑​n∑​I[x+m,y+n]⋅K[m,n]</a:t>
            </a:r>
          </a:p>
          <a:p>
            <a:r>
              <a:rPr lang="en-US" dirty="0"/>
              <a:t> Flatten: Convert the result into 1D array</a:t>
            </a:r>
          </a:p>
          <a:p>
            <a:r>
              <a:rPr lang="en-US" dirty="0"/>
              <a:t>Dense: we use in it  activation function </a:t>
            </a:r>
            <a:r>
              <a:rPr lang="en-US" dirty="0" err="1"/>
              <a:t>relu</a:t>
            </a:r>
            <a:r>
              <a:rPr lang="en-US" dirty="0"/>
              <a:t>  f(x)=max(0,x) only positive</a:t>
            </a:r>
          </a:p>
          <a:p>
            <a:r>
              <a:rPr lang="en-US" dirty="0"/>
              <a:t>Sigmoid: binary classification (0 or 1) </a:t>
            </a:r>
            <a:r>
              <a:rPr lang="el-GR" dirty="0"/>
              <a:t>σ(</a:t>
            </a:r>
            <a:r>
              <a:rPr lang="en-US" dirty="0"/>
              <a:t>x)=1/e−x+1​</a:t>
            </a:r>
            <a:endParaRPr lang="ar-IQ" dirty="0"/>
          </a:p>
          <a:p>
            <a:endParaRPr lang="ar-IQ" dirty="0"/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6D956-08F9-214A-08AE-9F551E5B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7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4366" y="985031"/>
            <a:ext cx="974076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network structure :</a:t>
            </a:r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pPr algn="r" rtl="1"/>
            <a:endParaRPr lang="en-US" sz="1200" b="1" dirty="0"/>
          </a:p>
          <a:p>
            <a:pPr algn="r" rtl="1"/>
            <a:endParaRPr lang="en-US" sz="1200" b="1" dirty="0"/>
          </a:p>
          <a:p>
            <a:pPr algn="r" rtl="1"/>
            <a:r>
              <a:rPr lang="ar-JO" sz="1200" dirty="0"/>
              <a:t>يعتمد النموذج المقترح على </a:t>
            </a:r>
            <a:r>
              <a:rPr lang="en-US" sz="1200" dirty="0"/>
              <a:t> CNN</a:t>
            </a:r>
            <a:r>
              <a:rPr lang="ar-JO" sz="1200" dirty="0"/>
              <a:t>لاستخراج الخصائص البصرية من صور آفات الجلد بشكل تدريجي. تبدأ الشبكة بعدة طبقات </a:t>
            </a:r>
            <a:r>
              <a:rPr lang="en-US" sz="1200" dirty="0"/>
              <a:t> </a:t>
            </a:r>
            <a:r>
              <a:rPr lang="en-CA" sz="1200" dirty="0"/>
              <a:t>Conv2d </a:t>
            </a:r>
            <a:r>
              <a:rPr lang="ar-JO" sz="1200" dirty="0"/>
              <a:t>بعدد فلاتر متزايد (32، 64، 128، 256) بعد كل طبقة </a:t>
            </a:r>
            <a:r>
              <a:rPr lang="en-US" sz="1200" dirty="0"/>
              <a:t>Conv2d</a:t>
            </a:r>
            <a:r>
              <a:rPr lang="ar-JO" sz="1200" dirty="0"/>
              <a:t>، يتم استخدام </a:t>
            </a:r>
            <a:r>
              <a:rPr lang="en-US" sz="1200" dirty="0"/>
              <a:t> </a:t>
            </a:r>
            <a:r>
              <a:rPr lang="en-CA" sz="1200" dirty="0"/>
              <a:t>Max Pooling </a:t>
            </a:r>
            <a:r>
              <a:rPr lang="ar-JO" sz="1200" dirty="0"/>
              <a:t>لتقليل الأبعاد المكانية، ما يساعد على تحسين التعميم وتقليل خطر </a:t>
            </a:r>
            <a:r>
              <a:rPr lang="en-US" sz="1200" dirty="0"/>
              <a:t> </a:t>
            </a:r>
            <a:r>
              <a:rPr lang="ar-JO" sz="1200" dirty="0"/>
              <a:t>ال </a:t>
            </a:r>
            <a:r>
              <a:rPr lang="en-US" sz="1200" dirty="0"/>
              <a:t>overfitting</a:t>
            </a:r>
            <a:r>
              <a:rPr lang="ar-JO" sz="1200" dirty="0"/>
              <a:t>.</a:t>
            </a:r>
          </a:p>
          <a:p>
            <a:pPr algn="r" rtl="1"/>
            <a:r>
              <a:rPr lang="ar-JO" sz="1200" dirty="0"/>
              <a:t>في مرحلة التصنيف، يتم تحويل خرائط الخصائص إلى </a:t>
            </a:r>
            <a:r>
              <a:rPr lang="en-US" sz="1200" dirty="0"/>
              <a:t>1D array</a:t>
            </a:r>
            <a:r>
              <a:rPr lang="ar-JO" sz="1200" dirty="0"/>
              <a:t> باستخدام طبقة </a:t>
            </a:r>
            <a:r>
              <a:rPr lang="en-CA" sz="1200" dirty="0"/>
              <a:t>Flatten، </a:t>
            </a:r>
            <a:r>
              <a:rPr lang="ar-JO" sz="1200" dirty="0"/>
              <a:t>ثم تمريرها إلى طبقة </a:t>
            </a:r>
            <a:r>
              <a:rPr lang="en-US" sz="1200" dirty="0"/>
              <a:t> </a:t>
            </a:r>
            <a:r>
              <a:rPr lang="en-CA" sz="1200" dirty="0"/>
              <a:t>Dense </a:t>
            </a:r>
            <a:r>
              <a:rPr lang="ar-JO" sz="1200" dirty="0"/>
              <a:t>تحتوي على 256 عقدة لدمج الخصائص المستخرجة. تم استخدام طبقة </a:t>
            </a:r>
            <a:r>
              <a:rPr lang="en-CA" sz="1200" dirty="0"/>
              <a:t>Dropout </a:t>
            </a:r>
            <a:r>
              <a:rPr lang="ar-JO" sz="1200" dirty="0"/>
              <a:t>للحد من </a:t>
            </a:r>
            <a:r>
              <a:rPr lang="en-US" sz="1200" dirty="0"/>
              <a:t>overfitting</a:t>
            </a:r>
            <a:endParaRPr lang="ar-JO" sz="1200" dirty="0"/>
          </a:p>
          <a:p>
            <a:pPr algn="r" rtl="1"/>
            <a:r>
              <a:rPr lang="ar-JO" sz="1200" dirty="0"/>
              <a:t>تستخدم طبقة الإخراج دالة تفعيل </a:t>
            </a:r>
            <a:r>
              <a:rPr lang="en-US" sz="1200" dirty="0"/>
              <a:t> </a:t>
            </a:r>
            <a:r>
              <a:rPr lang="en-CA" sz="1200" dirty="0"/>
              <a:t>Sigmoid </a:t>
            </a:r>
            <a:r>
              <a:rPr lang="ar-JO" sz="1200" dirty="0"/>
              <a:t>لإنتاج قيمة </a:t>
            </a:r>
            <a:r>
              <a:rPr lang="ar-JO" sz="1200" dirty="0" err="1"/>
              <a:t>التنبأ</a:t>
            </a:r>
            <a:r>
              <a:rPr lang="ar-JO" sz="1200" dirty="0"/>
              <a:t> التي تمثل احتمال كون الآفة الجلدية خبيثة أو حميدة.</a:t>
            </a:r>
          </a:p>
          <a:p>
            <a:endParaRPr lang="en-US" sz="2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0CBA7-A640-541D-6FAA-53027301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A screenshot of a table">
            <a:extLst>
              <a:ext uri="{FF2B5EF4-FFF2-40B4-BE49-F238E27FC236}">
                <a16:creationId xmlns:a16="http://schemas.microsoft.com/office/drawing/2014/main" id="{2885AD1D-1522-6AF2-EAF1-01AE6204A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881" y="1289624"/>
            <a:ext cx="3001118" cy="242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2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4E6E26-5140-22A7-35AA-2C4A676E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16402-F6E0-6396-F745-5279D444689A}"/>
              </a:ext>
            </a:extLst>
          </p:cNvPr>
          <p:cNvSpPr txBox="1"/>
          <p:nvPr/>
        </p:nvSpPr>
        <p:spPr>
          <a:xfrm>
            <a:off x="-1" y="217799"/>
            <a:ext cx="109663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Model Implementation &amp; Training :                                              </a:t>
            </a:r>
            <a:r>
              <a:rPr lang="en-CA" dirty="0"/>
              <a:t>Model Training  :</a:t>
            </a:r>
            <a:endParaRPr lang="LID4096" dirty="0"/>
          </a:p>
          <a:p>
            <a:endParaRPr lang="en-CA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CA" dirty="0"/>
              <a:t>-Model Compilation: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6" name="Picture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88E22753-C0F0-A92C-A750-2480BF79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" y="864130"/>
            <a:ext cx="5228640" cy="225774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86970A-1CA8-24C8-73B6-B77C85218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088" y="786857"/>
            <a:ext cx="5547204" cy="549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9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7C0540-2884-C423-4391-E97FA5D9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012B9-DD92-0AAC-C090-EB3C632549FC}"/>
              </a:ext>
            </a:extLst>
          </p:cNvPr>
          <p:cNvSpPr txBox="1"/>
          <p:nvPr/>
        </p:nvSpPr>
        <p:spPr>
          <a:xfrm>
            <a:off x="-1" y="101888"/>
            <a:ext cx="120610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Model Evaluation &amp; Testing :</a:t>
            </a: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CA" dirty="0">
                <a:solidFill>
                  <a:srgbClr val="000000"/>
                </a:solidFill>
                <a:latin typeface="Calibri" panose="020F0502020204030204" pitchFamily="34" charset="0"/>
              </a:rPr>
              <a:t>The result on unseen data:                                                                                           </a:t>
            </a:r>
            <a:r>
              <a:rPr lang="en-CA" dirty="0"/>
              <a:t>Performance Evaluation :</a:t>
            </a:r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CA" dirty="0">
                <a:solidFill>
                  <a:srgbClr val="000000"/>
                </a:solidFill>
                <a:latin typeface="Calibri" panose="020F0502020204030204" pitchFamily="34" charset="0"/>
              </a:rPr>
              <a:t>Confusion matrix:</a:t>
            </a:r>
            <a:br>
              <a:rPr lang="en-CA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br>
              <a:rPr lang="en-CA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endParaRPr lang="LID4096" dirty="0"/>
          </a:p>
        </p:txBody>
      </p:sp>
      <p:pic>
        <p:nvPicPr>
          <p:cNvPr id="6" name="Picture 5" descr="A close up of a brown spot&#10;&#10;AI-generated content may be incorrect.">
            <a:extLst>
              <a:ext uri="{FF2B5EF4-FFF2-40B4-BE49-F238E27FC236}">
                <a16:creationId xmlns:a16="http://schemas.microsoft.com/office/drawing/2014/main" id="{957A9784-CCF2-A089-7511-03C9DA867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59892"/>
            <a:ext cx="2919822" cy="2369108"/>
          </a:xfrm>
          <a:prstGeom prst="rect">
            <a:avLst/>
          </a:prstGeom>
        </p:spPr>
      </p:pic>
      <p:pic>
        <p:nvPicPr>
          <p:cNvPr id="10" name="Picture 9" descr="A graph of loss and loss">
            <a:extLst>
              <a:ext uri="{FF2B5EF4-FFF2-40B4-BE49-F238E27FC236}">
                <a16:creationId xmlns:a16="http://schemas.microsoft.com/office/drawing/2014/main" id="{58F9BB54-1336-2822-407E-3CE77E6D4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306" y="1059892"/>
            <a:ext cx="3004659" cy="3989018"/>
          </a:xfrm>
          <a:prstGeom prst="rect">
            <a:avLst/>
          </a:prstGeom>
        </p:spPr>
      </p:pic>
      <p:pic>
        <p:nvPicPr>
          <p:cNvPr id="14" name="Picture 13" descr="A chart of confusion matrix&#10;&#10;AI-generated content may be incorrect.">
            <a:extLst>
              <a:ext uri="{FF2B5EF4-FFF2-40B4-BE49-F238E27FC236}">
                <a16:creationId xmlns:a16="http://schemas.microsoft.com/office/drawing/2014/main" id="{081411FD-FE20-105A-3D44-C3AC45B8B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46" y="4115298"/>
            <a:ext cx="3641863" cy="2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4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442E85-787D-010B-8793-6AC5192F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9FEB7-B1B2-CA6E-9A6C-3EAE6183035E}"/>
              </a:ext>
            </a:extLst>
          </p:cNvPr>
          <p:cNvSpPr txBox="1"/>
          <p:nvPr/>
        </p:nvSpPr>
        <p:spPr>
          <a:xfrm>
            <a:off x="1146" y="116487"/>
            <a:ext cx="60948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values of key performance metrics :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Accuracy  =~ 90 </a:t>
            </a:r>
            <a:endParaRPr lang="ar-JO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r" rtl="1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ar-JO" dirty="0">
                <a:solidFill>
                  <a:srgbClr val="000000"/>
                </a:solidFill>
                <a:latin typeface="Calibri" panose="020F0502020204030204" pitchFamily="34" charset="0"/>
              </a:rPr>
              <a:t>يعني ان كل 10 صور </a:t>
            </a:r>
            <a:r>
              <a:rPr lang="ar-JO" dirty="0" err="1">
                <a:solidFill>
                  <a:srgbClr val="000000"/>
                </a:solidFill>
                <a:latin typeface="Calibri" panose="020F0502020204030204" pitchFamily="34" charset="0"/>
              </a:rPr>
              <a:t>المودل</a:t>
            </a:r>
            <a:r>
              <a:rPr lang="ar-JO" dirty="0">
                <a:solidFill>
                  <a:srgbClr val="000000"/>
                </a:solidFill>
                <a:latin typeface="Calibri" panose="020F0502020204030204" pitchFamily="34" charset="0"/>
              </a:rPr>
              <a:t> يتوقع 9 صح</a:t>
            </a:r>
          </a:p>
          <a:p>
            <a:endParaRPr lang="ar-JO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r>
              <a:rPr lang="en-CA" dirty="0"/>
              <a:t>Precision</a:t>
            </a:r>
            <a:r>
              <a:rPr lang="ar-JO" dirty="0"/>
              <a:t> :</a:t>
            </a:r>
          </a:p>
          <a:p>
            <a:r>
              <a:rPr lang="ar-JO" dirty="0"/>
              <a:t>	</a:t>
            </a:r>
            <a:r>
              <a:rPr lang="en-CA" dirty="0"/>
              <a:t>benign  = 0.89 </a:t>
            </a:r>
            <a:endParaRPr lang="ar-JO" dirty="0"/>
          </a:p>
          <a:p>
            <a:pPr algn="r" rtl="1"/>
            <a:r>
              <a:rPr lang="ar-JO" dirty="0"/>
              <a:t>89 % من الصور المتوقع انها خلايا حميدة كان التوقع صحيح</a:t>
            </a:r>
          </a:p>
          <a:p>
            <a:r>
              <a:rPr lang="ar-JO" dirty="0"/>
              <a:t>	</a:t>
            </a:r>
            <a:r>
              <a:rPr lang="en-CA" dirty="0"/>
              <a:t>Malignant =</a:t>
            </a:r>
            <a:r>
              <a:rPr lang="en-DE" dirty="0"/>
              <a:t>0.93</a:t>
            </a:r>
            <a:endParaRPr lang="en-US" dirty="0"/>
          </a:p>
          <a:p>
            <a:pPr algn="r" rtl="1"/>
            <a:r>
              <a:rPr lang="en-US" dirty="0"/>
              <a:t>93</a:t>
            </a:r>
            <a:r>
              <a:rPr lang="ar-JO" dirty="0"/>
              <a:t> % من الصور المتوقع انها خلايا خبيثة كان التوقع صحيح</a:t>
            </a:r>
          </a:p>
          <a:p>
            <a:r>
              <a:rPr lang="en-US" dirty="0"/>
              <a:t>Recall:</a:t>
            </a:r>
          </a:p>
          <a:p>
            <a:r>
              <a:rPr lang="en-US" dirty="0"/>
              <a:t>	</a:t>
            </a:r>
            <a:r>
              <a:rPr lang="en-CA" dirty="0"/>
              <a:t> benign =0.94</a:t>
            </a:r>
          </a:p>
          <a:p>
            <a:pPr algn="r" rtl="1"/>
            <a:r>
              <a:rPr lang="ar-JO" dirty="0" err="1"/>
              <a:t>المودل</a:t>
            </a:r>
            <a:r>
              <a:rPr lang="ar-JO" dirty="0"/>
              <a:t> اكتشف %94 من الحالات </a:t>
            </a:r>
            <a:r>
              <a:rPr lang="ar-JO" dirty="0" err="1"/>
              <a:t>الغيرخبيثة</a:t>
            </a:r>
            <a:r>
              <a:rPr lang="ar-JO" dirty="0"/>
              <a:t> صح</a:t>
            </a:r>
            <a:endParaRPr lang="en-CA" dirty="0"/>
          </a:p>
          <a:p>
            <a:r>
              <a:rPr lang="en-CA" dirty="0"/>
              <a:t>	 Malignant =0.88</a:t>
            </a:r>
            <a:r>
              <a:rPr lang="en-US" dirty="0"/>
              <a:t>	</a:t>
            </a:r>
            <a:endParaRPr lang="ar-JO" dirty="0"/>
          </a:p>
          <a:p>
            <a:pPr algn="r"/>
            <a:r>
              <a:rPr lang="ar-JO" dirty="0" err="1"/>
              <a:t>المودل</a:t>
            </a:r>
            <a:r>
              <a:rPr lang="ar-JO" dirty="0"/>
              <a:t> اكتشف %88 من الحالات خبيثة صح</a:t>
            </a:r>
            <a:endParaRPr lang="en-CA" dirty="0"/>
          </a:p>
          <a:p>
            <a:endParaRPr lang="ar-JO" dirty="0"/>
          </a:p>
          <a:p>
            <a:r>
              <a:rPr lang="en-CA" dirty="0"/>
              <a:t>F1-Score </a:t>
            </a:r>
            <a:r>
              <a:rPr lang="ar-JO" dirty="0"/>
              <a:t>:</a:t>
            </a:r>
            <a:r>
              <a:rPr lang="en-US" dirty="0"/>
              <a:t>0.91  </a:t>
            </a:r>
          </a:p>
          <a:p>
            <a:pPr algn="r"/>
            <a:r>
              <a:rPr lang="ar-JO" dirty="0"/>
              <a:t>يعني النموذج متوازن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685FD9F-4ECE-3D58-5E30-AADF37599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006" y="751817"/>
            <a:ext cx="5115639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12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4BBFE2-69F1-943C-9860-E722204F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2975B-36A5-43C5-870E-04CABD583635}"/>
              </a:ext>
            </a:extLst>
          </p:cNvPr>
          <p:cNvSpPr txBox="1"/>
          <p:nvPr/>
        </p:nvSpPr>
        <p:spPr>
          <a:xfrm>
            <a:off x="0" y="172723"/>
            <a:ext cx="609492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Critical Analysis &amp; Future Work :</a:t>
            </a:r>
          </a:p>
          <a:p>
            <a:endParaRPr lang="en-CA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b="1" dirty="0"/>
              <a:t>model's weaknesses :</a:t>
            </a:r>
            <a:endParaRPr lang="en-DE" dirty="0"/>
          </a:p>
          <a:p>
            <a:r>
              <a:rPr lang="en-US" dirty="0"/>
              <a:t>The model may make mistakes when the images are low quality.</a:t>
            </a:r>
            <a:endParaRPr lang="en-DE" dirty="0"/>
          </a:p>
          <a:p>
            <a:pPr eaLnBrk="0" fontAlgn="base" hangingPunct="0"/>
            <a:r>
              <a:rPr lang="en-US" b="1" dirty="0"/>
              <a:t>solutions and improvements for future work:</a:t>
            </a:r>
            <a:endParaRPr lang="en-DE" dirty="0"/>
          </a:p>
          <a:p>
            <a:pPr eaLnBrk="0" fontAlgn="base" hangingPunct="0"/>
            <a:r>
              <a:rPr lang="en-US" dirty="0"/>
              <a:t> Increase the dataset size using augmentation or by collecting more images.</a:t>
            </a:r>
            <a:endParaRPr lang="en-DE" dirty="0"/>
          </a:p>
          <a:p>
            <a:pPr eaLnBrk="0" fontAlgn="base" hangingPunct="0"/>
            <a:r>
              <a:rPr lang="en-US" dirty="0"/>
              <a:t>Try Transfer Learning with strong models like </a:t>
            </a:r>
            <a:r>
              <a:rPr lang="en-US" dirty="0" err="1"/>
              <a:t>ResNet</a:t>
            </a:r>
            <a:r>
              <a:rPr lang="en-US" dirty="0"/>
              <a:t> or </a:t>
            </a:r>
            <a:r>
              <a:rPr lang="en-US" dirty="0" err="1"/>
              <a:t>EfficientNet</a:t>
            </a:r>
            <a:r>
              <a:rPr lang="en-US" dirty="0"/>
              <a:t> to improve accuracy</a:t>
            </a:r>
            <a:endParaRPr lang="en-DE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791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AB3C058-6D59-D232-5EC0-14020D860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1092249" y="6459592"/>
            <a:ext cx="261551" cy="158639"/>
          </a:xfrm>
        </p:spPr>
        <p:txBody>
          <a:bodyPr>
            <a:normAutofit/>
          </a:bodyPr>
          <a:lstStyle/>
          <a:p>
            <a:endParaRPr lang="LID4096" sz="1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DFA642A-1405-3B71-57BC-5B58A2342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524"/>
            <a:ext cx="9144000" cy="329247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err="1"/>
              <a:t>Referances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The dataset </a:t>
            </a:r>
            <a:r>
              <a:rPr lang="en-US" b="1" dirty="0"/>
              <a:t>Melanoma Skin Cancer Dataset</a:t>
            </a:r>
            <a:r>
              <a:rPr lang="en-US" dirty="0"/>
              <a:t> from Kaggle:</a:t>
            </a:r>
          </a:p>
          <a:p>
            <a:pPr algn="l"/>
            <a:r>
              <a:rPr lang="en-US" dirty="0">
                <a:hlinkClick r:id="rId2"/>
              </a:rPr>
              <a:t>https://www.kaggle.com/datasets/hasnainjaved/melanoma-skin-cancer-dataset-of-10000-images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Code: All the code for this project was written by us.</a:t>
            </a:r>
          </a:p>
          <a:p>
            <a:pPr algn="l"/>
            <a:endParaRPr lang="en-US" dirty="0"/>
          </a:p>
          <a:p>
            <a:pPr algn="l"/>
            <a:r>
              <a:rPr lang="en-US" dirty="0" err="1"/>
              <a:t>Theoritcal</a:t>
            </a:r>
            <a:r>
              <a:rPr lang="en-US" dirty="0"/>
              <a:t> </a:t>
            </a:r>
            <a:r>
              <a:rPr lang="en-US" dirty="0" err="1"/>
              <a:t>informationThe</a:t>
            </a:r>
            <a:r>
              <a:rPr lang="en-US" dirty="0"/>
              <a:t> theoretical information and concepts used in this work are based on what we learned during the course.</a:t>
            </a:r>
          </a:p>
          <a:p>
            <a:pPr algn="l"/>
            <a:endParaRPr lang="LID4096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AA0A4A-5B81-7EA5-D0BA-092193C2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661F-D80C-46AD-8792-0AE17DB43AB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66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Widescreen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Unicode MS</vt:lpstr>
      <vt:lpstr>Calibri</vt:lpstr>
      <vt:lpstr>Calibri Light</vt:lpstr>
      <vt:lpstr>Office Theme</vt:lpstr>
      <vt:lpstr>PowerPoint Presentation</vt:lpstr>
      <vt:lpstr>Skin Cancer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AYAH</dc:creator>
  <cp:lastModifiedBy>Yamen Zedan</cp:lastModifiedBy>
  <cp:revision>24</cp:revision>
  <dcterms:created xsi:type="dcterms:W3CDTF">2025-12-06T12:39:49Z</dcterms:created>
  <dcterms:modified xsi:type="dcterms:W3CDTF">2025-12-12T12:56:00Z</dcterms:modified>
</cp:coreProperties>
</file>